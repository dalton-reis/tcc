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78" r:id="rId8"/>
    <p:sldId id="280" r:id="rId9"/>
    <p:sldId id="279" r:id="rId10"/>
    <p:sldId id="281" r:id="rId11"/>
    <p:sldId id="271" r:id="rId12"/>
    <p:sldId id="263" r:id="rId13"/>
    <p:sldId id="275" r:id="rId14"/>
    <p:sldId id="268" r:id="rId15"/>
    <p:sldId id="269" r:id="rId16"/>
    <p:sldId id="276" r:id="rId17"/>
    <p:sldId id="277" r:id="rId18"/>
    <p:sldId id="266" r:id="rId1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/>
    <p:restoredTop sz="94681"/>
  </p:normalViewPr>
  <p:slideViewPr>
    <p:cSldViewPr>
      <p:cViewPr varScale="1">
        <p:scale>
          <a:sx n="105" d="100"/>
          <a:sy n="105" d="100"/>
        </p:scale>
        <p:origin x="342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0CAF5D-44F2-6C4C-2700-0808830D6F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2A14DC-9229-1711-780F-0379D17743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728B13-499F-CC89-4D11-E95AB893E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B05C0-04EC-4E8D-BA88-3B55D055909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3651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1ABFDD-F508-E448-3DB4-14F48C5C0D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6B26C0-5C99-0B02-22CB-D283E17520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A339A5-5B5E-AED2-88C0-C33AF6A8AC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8D1D6-C3F4-4627-ADD7-106C54B0770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1310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B052A5-4FA4-02E1-1640-2D0FDACBF7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3DAABF-164C-3BD2-EB76-93A1D7568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7F8D12-FD73-B95F-5A82-86029FE54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7D1B2-2B6C-4DF1-A9D8-7E747F29E84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3862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EE039-4BD6-ED67-520E-14F7DE44E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F2F7FF-A97A-8B61-6937-0A84A94B00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64F7D6-C236-2EE7-DAB1-5604E430E2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943F9-5F9E-4A8B-B0C6-11E82762928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1637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97E26B-B9D2-03A4-C214-64B3E7610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518931-8EE7-ACC7-3C0C-90E6CDC6DD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70C8B9F-5157-3EB9-0F63-CDFAE4265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3D745-40C7-4B09-8135-DF07B75DEE5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7679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318CF23-48D8-0055-C6E6-34E85827B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DC4E08-A5DF-5DF5-8D25-BE4410EE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1AC687-7E3F-4ECD-0F17-565290D78C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C5097-23B4-4C0B-87B0-F231ED1050E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5364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5044486-7C1D-C322-2C8D-77F615B57F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D5CE43C-5151-C1DE-17C7-CF20A496A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D41A963-8D24-5F65-2581-5657C10D53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EFBD6-2794-4BD2-837C-74ED6B0A691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736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A81703-DA6A-541D-536A-7310FDFCE6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003D9-8A98-9AC3-023A-89631A2BD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2B3DC-87FE-9B5B-EC58-8F537EEF2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2E081-F2D0-4D65-8721-77F18FCCB01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7405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C1CA3-F8DA-8E00-BDDE-FFAD4BBAA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C7E3B-AD3C-DD9C-D152-4E5899F071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4D4C8B-8086-A23F-5466-58AF5E24B9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F37E6-E863-43E1-A109-68604878EE7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2547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1EFF81-BD05-C6B2-6E06-F207278993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9F51F-019F-3337-DAF0-D83216987C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43A966-5E94-C282-9254-A722504735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C7705-2758-46D5-8351-E104C072E94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4083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68C369-0C0C-5597-A215-CCB972E3C2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59BA6F-EFDC-7238-F857-F6A6054D2F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BA52B9-6F67-E2A2-F79A-B8C0F99214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2796A-644C-4D02-A871-734210170F9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1112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045E99-6D0A-BC02-1D0C-360451BAB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FBBCD9-D199-F340-6A2A-C861D93C7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C40040-66D1-B59A-E23E-CEBF56FC25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B6A578-B24E-D79D-D8C0-6C7B61A67E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8086B4E-4A26-51CC-C446-098C5ACEC6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678BFA1-16D1-469B-A4A1-B9204973791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BC39B04-6C0F-7623-8CB4-5DEC74F21E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6350" y="1341438"/>
            <a:ext cx="9144000" cy="2879725"/>
          </a:xfrm>
        </p:spPr>
        <p:txBody>
          <a:bodyPr anchor="ctr"/>
          <a:lstStyle/>
          <a:p>
            <a:pPr eaLnBrk="1" hangingPunct="1"/>
            <a:r>
              <a:rPr lang="pt-BR" altLang="pt-BR" sz="4800" dirty="0"/>
              <a:t>Jogo em Realidade Virtual para Estimular a Comunicação Oral em Inglês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2DEEA247-5D9D-F168-AAEF-31D58D4CF6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-6350" y="4581525"/>
            <a:ext cx="9144000" cy="1752600"/>
          </a:xfrm>
        </p:spPr>
        <p:txBody>
          <a:bodyPr/>
          <a:lstStyle/>
          <a:p>
            <a:pPr eaLnBrk="1" hangingPunct="1"/>
            <a:r>
              <a:rPr lang="pt-BR" altLang="pt-BR" sz="2800" dirty="0"/>
              <a:t>Gabriel de Souza Borba</a:t>
            </a:r>
          </a:p>
          <a:p>
            <a:pPr eaLnBrk="1" hangingPunct="1"/>
            <a:r>
              <a:rPr lang="pt-BR" altLang="pt-BR" sz="2800" dirty="0"/>
              <a:t>Orientador(a): Luciana Pereira de Araújo Kohler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ítulo 1">
            <a:extLst>
              <a:ext uri="{FF2B5EF4-FFF2-40B4-BE49-F238E27FC236}">
                <a16:creationId xmlns:a16="http://schemas.microsoft.com/office/drawing/2014/main" id="{7127F097-8234-6CAD-3188-22285083D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Introdução</a:t>
            </a:r>
          </a:p>
        </p:txBody>
      </p:sp>
      <p:sp>
        <p:nvSpPr>
          <p:cNvPr id="14338" name="Espaço Reservado para Conteúdo 2">
            <a:extLst>
              <a:ext uri="{FF2B5EF4-FFF2-40B4-BE49-F238E27FC236}">
                <a16:creationId xmlns:a16="http://schemas.microsoft.com/office/drawing/2014/main" id="{DDDCB49E-C9EB-3675-98F5-9FE89AC2C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sz="2400" dirty="0"/>
              <a:t>	O inglês é essencial no mundo globalizado, mas muitos brasileiros de nível intermediário "travam" na hora de falar devido à falta de prática no cotidiano e ao medo de errar.</a:t>
            </a:r>
          </a:p>
          <a:p>
            <a:pPr marL="0" indent="0" algn="just">
              <a:buNone/>
            </a:pPr>
            <a:r>
              <a:rPr lang="pt-BR" sz="2400" dirty="0"/>
              <a:t>	A Realidade Virtual (RV) surge como uma ferramenta poderosa por criar ambientes imersivos e seguros, permitindo que o usuário pratique a fala sem o medo do julgamento social.</a:t>
            </a:r>
          </a:p>
          <a:p>
            <a:pPr marL="0" indent="0" algn="just">
              <a:buNone/>
            </a:pPr>
            <a:r>
              <a:rPr lang="pt-BR" sz="2400" dirty="0"/>
              <a:t>	A proposta do trabalho é desenvolver um protótipo de jogo em RV, focado na interação por voz, voltado para usuários com inglês básico ou intermediário.</a:t>
            </a:r>
            <a:endParaRPr lang="pt-BR" altLang="pt-B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ítulo 1">
            <a:extLst>
              <a:ext uri="{FF2B5EF4-FFF2-40B4-BE49-F238E27FC236}">
                <a16:creationId xmlns:a16="http://schemas.microsoft.com/office/drawing/2014/main" id="{CB169DCB-0B68-45AF-1647-1CBB5360D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Objetivos</a:t>
            </a:r>
          </a:p>
        </p:txBody>
      </p:sp>
      <p:sp>
        <p:nvSpPr>
          <p:cNvPr id="15362" name="Espaço Reservado para Conteúdo 2">
            <a:extLst>
              <a:ext uri="{FF2B5EF4-FFF2-40B4-BE49-F238E27FC236}">
                <a16:creationId xmlns:a16="http://schemas.microsoft.com/office/drawing/2014/main" id="{F8DF4F72-11C6-E96C-4FAC-5C11A0DD86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pt-BR" sz="2400" dirty="0"/>
              <a:t>O objetivo deste trabalho é desenvolver um protótipo de jogo educacional em RV no estilo </a:t>
            </a:r>
            <a:r>
              <a:rPr lang="pt-BR" sz="2400" i="1" dirty="0"/>
              <a:t>Escape Room</a:t>
            </a:r>
            <a:r>
              <a:rPr lang="pt-BR" sz="2400" dirty="0"/>
              <a:t>, utilizando mecânicas de comandos de voz em inglês para a resolução de desafios, a fim de auxiliar no desenvolvimento e estímulo da comunicação oral do jogador. </a:t>
            </a:r>
          </a:p>
          <a:p>
            <a:pPr marL="0" indent="0" algn="just" eaLnBrk="1" hangingPunct="1">
              <a:buNone/>
            </a:pPr>
            <a:r>
              <a:rPr lang="pt-BR" sz="2400" dirty="0"/>
              <a:t>Os objetivos específicos são: </a:t>
            </a:r>
          </a:p>
          <a:p>
            <a:pPr marL="0" indent="0" algn="just" eaLnBrk="1" hangingPunct="1">
              <a:buNone/>
            </a:pPr>
            <a:r>
              <a:rPr lang="pt-BR" sz="2400" dirty="0"/>
              <a:t>a) levantar e analisar mecânicas de </a:t>
            </a:r>
            <a:r>
              <a:rPr lang="pt-BR" sz="2400" i="1" dirty="0"/>
              <a:t>Escape Room</a:t>
            </a:r>
            <a:r>
              <a:rPr lang="pt-BR" sz="2400" dirty="0"/>
              <a:t> e elementos de gamificação que favoreçam a comunicação oral em inglês; </a:t>
            </a:r>
          </a:p>
          <a:p>
            <a:pPr marL="0" indent="0" algn="just" eaLnBrk="1" hangingPunct="1">
              <a:buNone/>
            </a:pPr>
            <a:r>
              <a:rPr lang="pt-BR" sz="2400" dirty="0"/>
              <a:t>b) desenvolver um módulo de processamento e validação linguística baseado em tecnologia </a:t>
            </a:r>
            <a:r>
              <a:rPr lang="pt-BR" sz="2400" i="1" dirty="0"/>
              <a:t>Speech-</a:t>
            </a:r>
            <a:r>
              <a:rPr lang="pt-BR" sz="2400" i="1" dirty="0" err="1"/>
              <a:t>to</a:t>
            </a:r>
            <a:r>
              <a:rPr lang="pt-BR" sz="2400" i="1" dirty="0"/>
              <a:t>-</a:t>
            </a:r>
            <a:r>
              <a:rPr lang="pt-BR" sz="2400" i="1" dirty="0" err="1"/>
              <a:t>Text</a:t>
            </a:r>
            <a:r>
              <a:rPr lang="pt-BR" sz="2400" dirty="0"/>
              <a:t> (STT).</a:t>
            </a:r>
            <a:endParaRPr lang="pt-BR" altLang="pt-BR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ítulo 1">
            <a:extLst>
              <a:ext uri="{FF2B5EF4-FFF2-40B4-BE49-F238E27FC236}">
                <a16:creationId xmlns:a16="http://schemas.microsoft.com/office/drawing/2014/main" id="{635905A8-CAC7-C5E1-D2E5-9DED8898D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Trabalhos Correlatos</a:t>
            </a:r>
          </a:p>
        </p:txBody>
      </p:sp>
      <p:sp>
        <p:nvSpPr>
          <p:cNvPr id="18434" name="Espaço Reservado para Conteúdo 2">
            <a:extLst>
              <a:ext uri="{FF2B5EF4-FFF2-40B4-BE49-F238E27FC236}">
                <a16:creationId xmlns:a16="http://schemas.microsoft.com/office/drawing/2014/main" id="{5204F888-04F8-9367-448F-407415B1B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684784"/>
          </a:xfrm>
        </p:spPr>
        <p:txBody>
          <a:bodyPr/>
          <a:lstStyle/>
          <a:p>
            <a:pPr marL="0" indent="0" algn="ctr">
              <a:buNone/>
            </a:pPr>
            <a:r>
              <a:rPr lang="pt-BR" sz="2000" b="1" dirty="0" err="1"/>
              <a:t>Developing</a:t>
            </a:r>
            <a:r>
              <a:rPr lang="pt-BR" sz="2000" b="1" dirty="0"/>
              <a:t> </a:t>
            </a:r>
            <a:r>
              <a:rPr lang="pt-BR" sz="2000" b="1" dirty="0" err="1"/>
              <a:t>English</a:t>
            </a:r>
            <a:r>
              <a:rPr lang="pt-BR" sz="2000" b="1" dirty="0"/>
              <a:t> </a:t>
            </a:r>
            <a:r>
              <a:rPr lang="pt-BR" sz="2000" b="1" dirty="0" err="1"/>
              <a:t>language</a:t>
            </a:r>
            <a:r>
              <a:rPr lang="pt-BR" sz="2000" b="1" dirty="0"/>
              <a:t> </a:t>
            </a:r>
            <a:r>
              <a:rPr lang="pt-BR" sz="2000" b="1" dirty="0" err="1"/>
              <a:t>learners</a:t>
            </a:r>
            <a:r>
              <a:rPr lang="pt-BR" sz="2000" b="1" dirty="0"/>
              <a:t>’ </a:t>
            </a:r>
            <a:r>
              <a:rPr lang="pt-BR" sz="2000" b="1" dirty="0" err="1"/>
              <a:t>speaking</a:t>
            </a:r>
            <a:r>
              <a:rPr lang="pt-BR" sz="2000" b="1" dirty="0"/>
              <a:t> skills </a:t>
            </a:r>
            <a:r>
              <a:rPr lang="pt-BR" sz="2000" b="1" dirty="0" err="1"/>
              <a:t>through</a:t>
            </a:r>
            <a:r>
              <a:rPr lang="pt-BR" sz="2000" b="1" dirty="0"/>
              <a:t> </a:t>
            </a:r>
            <a:r>
              <a:rPr lang="pt-BR" sz="2000" b="1" dirty="0" err="1"/>
              <a:t>applying</a:t>
            </a:r>
            <a:r>
              <a:rPr lang="pt-BR" sz="2000" b="1" dirty="0"/>
              <a:t> a </a:t>
            </a:r>
            <a:r>
              <a:rPr lang="pt-BR" sz="2000" b="1" dirty="0" err="1"/>
              <a:t>situated</a:t>
            </a:r>
            <a:r>
              <a:rPr lang="pt-BR" sz="2000" b="1" dirty="0"/>
              <a:t> learning approach in VR-</a:t>
            </a:r>
            <a:r>
              <a:rPr lang="pt-BR" sz="2000" b="1" dirty="0" err="1"/>
              <a:t>enhanced</a:t>
            </a:r>
            <a:r>
              <a:rPr lang="pt-BR" sz="2000" b="1" dirty="0"/>
              <a:t> learning </a:t>
            </a:r>
            <a:r>
              <a:rPr lang="pt-BR" sz="2000" b="1" dirty="0" err="1"/>
              <a:t>experiences</a:t>
            </a:r>
            <a:r>
              <a:rPr lang="pt-BR" sz="2000" b="1" dirty="0"/>
              <a:t> (Yan; Lowell; Yang, 2024)</a:t>
            </a:r>
          </a:p>
          <a:p>
            <a:pPr marL="0" indent="0">
              <a:buNone/>
            </a:pPr>
            <a:r>
              <a:rPr lang="pt-BR" sz="2000" b="1" dirty="0"/>
              <a:t>Abordagem:</a:t>
            </a:r>
            <a:r>
              <a:rPr lang="pt-BR" sz="2000" dirty="0"/>
              <a:t> Uso de atividades de </a:t>
            </a:r>
            <a:r>
              <a:rPr lang="pt-BR" sz="2000" i="1" dirty="0"/>
              <a:t>role-play</a:t>
            </a:r>
            <a:r>
              <a:rPr lang="pt-BR" sz="2000" dirty="0"/>
              <a:t> (encenação) em situações do cotidiano (</a:t>
            </a:r>
            <a:r>
              <a:rPr lang="pt-BR" sz="2000" dirty="0" err="1"/>
              <a:t>ex</a:t>
            </a:r>
            <a:r>
              <a:rPr lang="pt-BR" sz="2000" dirty="0"/>
              <a:t>: aeroporto, restaurante, lojas).</a:t>
            </a:r>
          </a:p>
          <a:p>
            <a:pPr marL="0" indent="0">
              <a:buNone/>
            </a:pPr>
            <a:endParaRPr lang="pt-BR" alt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9BB0D3-CB20-8765-A343-4A09C782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94" y="3356992"/>
            <a:ext cx="5269212" cy="2920189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3F354DD-73DD-612D-E9B1-14F195086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77181"/>
            <a:ext cx="8229600" cy="31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pt-BR" sz="1200" dirty="0"/>
              <a:t>Fonte: Yan; Lowell; Yang (2024)</a:t>
            </a:r>
            <a:endParaRPr lang="pt-BR" altLang="pt-BR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755C-D02F-A749-FC79-17721310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ítulo 1">
            <a:extLst>
              <a:ext uri="{FF2B5EF4-FFF2-40B4-BE49-F238E27FC236}">
                <a16:creationId xmlns:a16="http://schemas.microsoft.com/office/drawing/2014/main" id="{97A03054-58B6-47C8-62FD-83488ACDA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Trabalhos Correlatos</a:t>
            </a:r>
          </a:p>
        </p:txBody>
      </p:sp>
      <p:sp>
        <p:nvSpPr>
          <p:cNvPr id="18434" name="Espaço Reservado para Conteúdo 2">
            <a:extLst>
              <a:ext uri="{FF2B5EF4-FFF2-40B4-BE49-F238E27FC236}">
                <a16:creationId xmlns:a16="http://schemas.microsoft.com/office/drawing/2014/main" id="{A82D4985-9151-76E9-22E2-1CB34FD072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b="1" dirty="0"/>
              <a:t>Pontos Fortes:</a:t>
            </a:r>
            <a:endParaRPr lang="pt-BR" sz="2000" dirty="0"/>
          </a:p>
          <a:p>
            <a:r>
              <a:rPr lang="pt-BR" sz="2000" dirty="0"/>
              <a:t>Simulação realista de contextos da vida real.</a:t>
            </a:r>
          </a:p>
          <a:p>
            <a:r>
              <a:rPr lang="pt-BR" sz="2000" dirty="0"/>
              <a:t>Interação simultânea entre múltiplos usuários e o cenário.</a:t>
            </a:r>
          </a:p>
          <a:p>
            <a:r>
              <a:rPr lang="pt-BR" sz="2000" dirty="0"/>
              <a:t>Redução da ansiedade/vergonha e fornecimento de </a:t>
            </a:r>
            <a:r>
              <a:rPr lang="pt-BR" sz="2000" i="1" dirty="0"/>
              <a:t>feedback</a:t>
            </a:r>
            <a:r>
              <a:rPr lang="pt-BR" sz="2000" dirty="0"/>
              <a:t> imediato.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Pontos Fracos:</a:t>
            </a:r>
            <a:endParaRPr lang="pt-BR" sz="2000" dirty="0"/>
          </a:p>
          <a:p>
            <a:r>
              <a:rPr lang="pt-BR" sz="2000" dirty="0"/>
              <a:t>Problemas técnicos prejudicam a imersão.</a:t>
            </a:r>
          </a:p>
          <a:p>
            <a:r>
              <a:rPr lang="pt-BR" sz="2000" dirty="0"/>
              <a:t>Amostra pequena e falta de um grupo de controle na pesquisa.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Resultados:</a:t>
            </a:r>
            <a:r>
              <a:rPr lang="pt-BR" sz="2000" dirty="0"/>
              <a:t> Melhora significativa no desempenho oral dos alunos (fluência, vocabulário, pronúncia e gramática).</a:t>
            </a:r>
          </a:p>
          <a:p>
            <a:pPr eaLnBrk="1" hangingPunct="1"/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214880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BAEA-304D-0CBE-F988-69C9C421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ítulo 1">
            <a:extLst>
              <a:ext uri="{FF2B5EF4-FFF2-40B4-BE49-F238E27FC236}">
                <a16:creationId xmlns:a16="http://schemas.microsoft.com/office/drawing/2014/main" id="{3E9075E6-300D-8042-51DC-BF2063DF3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Trabalhos Correlatos</a:t>
            </a:r>
          </a:p>
        </p:txBody>
      </p:sp>
      <p:sp>
        <p:nvSpPr>
          <p:cNvPr id="18434" name="Espaço Reservado para Conteúdo 2">
            <a:extLst>
              <a:ext uri="{FF2B5EF4-FFF2-40B4-BE49-F238E27FC236}">
                <a16:creationId xmlns:a16="http://schemas.microsoft.com/office/drawing/2014/main" id="{62FA2DEC-B10B-0DFF-7736-9ED81E103D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684784"/>
          </a:xfrm>
        </p:spPr>
        <p:txBody>
          <a:bodyPr/>
          <a:lstStyle/>
          <a:p>
            <a:pPr marL="0" indent="0" algn="ctr">
              <a:buNone/>
            </a:pPr>
            <a:r>
              <a:rPr lang="pt-BR" sz="2000" b="1" dirty="0"/>
              <a:t>REALIDADE VIRTUAL NA APRENDIZAGEM DE INGLÊS: um mapeamento de novas tecnologias (Leal; Costa; </a:t>
            </a:r>
            <a:r>
              <a:rPr lang="pt-BR" sz="2000" b="1" dirty="0" err="1"/>
              <a:t>Freschi</a:t>
            </a:r>
            <a:r>
              <a:rPr lang="pt-BR" sz="2000" b="1" dirty="0"/>
              <a:t>, 2021)</a:t>
            </a:r>
          </a:p>
          <a:p>
            <a:pPr marL="0" indent="0" algn="ctr">
              <a:buNone/>
            </a:pPr>
            <a:r>
              <a:rPr lang="pt-BR" sz="2000" b="1" dirty="0"/>
              <a:t> </a:t>
            </a:r>
          </a:p>
          <a:p>
            <a:pPr marL="0" indent="0">
              <a:buNone/>
            </a:pPr>
            <a:r>
              <a:rPr lang="pt-BR" sz="2000" b="1" dirty="0"/>
              <a:t>Abordagem:</a:t>
            </a:r>
            <a:r>
              <a:rPr lang="pt-BR" sz="2000" dirty="0"/>
              <a:t> Pesquisa bibliográfica exploratória de ferramentas e aplicativos de mercado (</a:t>
            </a: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sz="2000" i="1" dirty="0" err="1"/>
              <a:t>VirtualSpeech</a:t>
            </a:r>
            <a:r>
              <a:rPr lang="pt-BR" sz="2000" i="1" dirty="0"/>
              <a:t>, </a:t>
            </a:r>
            <a:r>
              <a:rPr lang="pt-BR" sz="2000" i="1" dirty="0" err="1"/>
              <a:t>ClassVR</a:t>
            </a:r>
            <a:r>
              <a:rPr lang="pt-BR" sz="2000" dirty="0"/>
              <a:t> e </a:t>
            </a:r>
            <a:r>
              <a:rPr lang="pt-BR" sz="2000" i="1" dirty="0" err="1"/>
              <a:t>Altspace</a:t>
            </a:r>
            <a:r>
              <a:rPr lang="pt-BR" sz="2000" i="1" dirty="0"/>
              <a:t> VR</a:t>
            </a:r>
            <a:r>
              <a:rPr lang="pt-BR" sz="2000" dirty="0"/>
              <a:t>).</a:t>
            </a:r>
          </a:p>
          <a:p>
            <a:pPr marL="0" indent="0">
              <a:buNone/>
            </a:pPr>
            <a:endParaRPr lang="pt-BR" altLang="pt-BR" sz="200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C7122DE-CF13-373C-6094-A7860572F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77181"/>
            <a:ext cx="8229600" cy="31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200" dirty="0"/>
              <a:t>Fonte: </a:t>
            </a:r>
            <a:r>
              <a:rPr lang="pt-BR" sz="1200" dirty="0" err="1"/>
              <a:t>VirtualSpeech</a:t>
            </a:r>
            <a:r>
              <a:rPr lang="pt-BR" sz="1200" dirty="0"/>
              <a:t> (2026)</a:t>
            </a: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3CA699BE-ACEA-A8CD-BC2A-DABFA7034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468" y="3349458"/>
            <a:ext cx="5329064" cy="2927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987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F9D1-E1CB-DE4C-16E9-67F4E0B7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ítulo 1">
            <a:extLst>
              <a:ext uri="{FF2B5EF4-FFF2-40B4-BE49-F238E27FC236}">
                <a16:creationId xmlns:a16="http://schemas.microsoft.com/office/drawing/2014/main" id="{59A7F84C-8B7B-0813-EEA2-518E8C18D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Trabalhos Correlatos</a:t>
            </a:r>
          </a:p>
        </p:txBody>
      </p:sp>
      <p:sp>
        <p:nvSpPr>
          <p:cNvPr id="19458" name="Espaço Reservado para Conteúdo 2">
            <a:extLst>
              <a:ext uri="{FF2B5EF4-FFF2-40B4-BE49-F238E27FC236}">
                <a16:creationId xmlns:a16="http://schemas.microsoft.com/office/drawing/2014/main" id="{DCA90E2A-8075-76B8-C155-0D42747EBD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b="1" dirty="0"/>
              <a:t>Pontos Fortes:</a:t>
            </a:r>
            <a:endParaRPr lang="pt-BR" sz="2000" dirty="0"/>
          </a:p>
          <a:p>
            <a:r>
              <a:rPr lang="pt-BR" sz="2000" dirty="0"/>
              <a:t>Aumento da motivação e autonomia do estudante.</a:t>
            </a:r>
          </a:p>
          <a:p>
            <a:r>
              <a:rPr lang="pt-BR" sz="2000" dirty="0"/>
              <a:t>Experenciar simulações de situações reais de forma imersiva.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Pontos Fracos:</a:t>
            </a:r>
            <a:endParaRPr lang="pt-BR" sz="2000" dirty="0"/>
          </a:p>
          <a:p>
            <a:r>
              <a:rPr lang="pt-BR" sz="2000" dirty="0"/>
              <a:t>Campo de estudo muito recente.</a:t>
            </a:r>
          </a:p>
          <a:p>
            <a:r>
              <a:rPr lang="pt-BR" sz="2000" dirty="0"/>
              <a:t>Ausência de pesquisa prática/aplicada.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Resultados:</a:t>
            </a:r>
            <a:r>
              <a:rPr lang="pt-BR" sz="2000" dirty="0"/>
              <a:t> A RV se demonstrou uma alternativa eficaz no aprendizado do inglês, trazendo inovação para dificuldades enfrentadas pelos métodos tradicionais.</a:t>
            </a:r>
          </a:p>
          <a:p>
            <a:pPr eaLnBrk="1" hangingPunct="1"/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4057868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323C-D545-025F-6511-41AA5A84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ítulo 1">
            <a:extLst>
              <a:ext uri="{FF2B5EF4-FFF2-40B4-BE49-F238E27FC236}">
                <a16:creationId xmlns:a16="http://schemas.microsoft.com/office/drawing/2014/main" id="{B7EEED65-4A76-BA12-D9CF-A7A68943A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Trabalhos Correlatos</a:t>
            </a:r>
          </a:p>
        </p:txBody>
      </p:sp>
      <p:sp>
        <p:nvSpPr>
          <p:cNvPr id="18434" name="Espaço Reservado para Conteúdo 2">
            <a:extLst>
              <a:ext uri="{FF2B5EF4-FFF2-40B4-BE49-F238E27FC236}">
                <a16:creationId xmlns:a16="http://schemas.microsoft.com/office/drawing/2014/main" id="{1968D1F4-5935-8BAA-F391-240E98A49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684784"/>
          </a:xfrm>
        </p:spPr>
        <p:txBody>
          <a:bodyPr/>
          <a:lstStyle/>
          <a:p>
            <a:pPr marL="0" indent="0" algn="ctr">
              <a:buNone/>
            </a:pPr>
            <a:r>
              <a:rPr lang="pt-BR" sz="2000" b="1" dirty="0" err="1"/>
              <a:t>Motivation</a:t>
            </a:r>
            <a:r>
              <a:rPr lang="pt-BR" sz="2000" b="1" dirty="0"/>
              <a:t>, </a:t>
            </a:r>
            <a:r>
              <a:rPr lang="pt-BR" sz="2000" b="1" dirty="0" err="1"/>
              <a:t>engagement</a:t>
            </a:r>
            <a:r>
              <a:rPr lang="pt-BR" sz="2000" b="1" dirty="0"/>
              <a:t>, </a:t>
            </a:r>
            <a:r>
              <a:rPr lang="pt-BR" sz="2000" b="1" dirty="0" err="1"/>
              <a:t>and</a:t>
            </a:r>
            <a:r>
              <a:rPr lang="pt-BR" sz="2000" b="1" dirty="0"/>
              <a:t> performance </a:t>
            </a:r>
            <a:r>
              <a:rPr lang="pt-BR" sz="2000" b="1" dirty="0" err="1"/>
              <a:t>across</a:t>
            </a:r>
            <a:r>
              <a:rPr lang="pt-BR" sz="2000" b="1" dirty="0"/>
              <a:t> </a:t>
            </a:r>
            <a:r>
              <a:rPr lang="pt-BR" sz="2000" b="1" dirty="0" err="1"/>
              <a:t>multiple</a:t>
            </a:r>
            <a:r>
              <a:rPr lang="pt-BR" sz="2000" b="1" dirty="0"/>
              <a:t> virtual reality </a:t>
            </a:r>
            <a:r>
              <a:rPr lang="pt-BR" sz="2000" b="1" dirty="0" err="1"/>
              <a:t>sessions</a:t>
            </a:r>
            <a:r>
              <a:rPr lang="pt-BR" sz="2000" b="1" dirty="0"/>
              <a:t>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levels</a:t>
            </a:r>
            <a:r>
              <a:rPr lang="pt-BR" sz="2000" b="1" dirty="0"/>
              <a:t> </a:t>
            </a:r>
            <a:r>
              <a:rPr lang="pt-BR" sz="2000" b="1" dirty="0" err="1"/>
              <a:t>of</a:t>
            </a:r>
            <a:r>
              <a:rPr lang="pt-BR" sz="2000" b="1" dirty="0"/>
              <a:t> </a:t>
            </a:r>
            <a:r>
              <a:rPr lang="pt-BR" sz="2000" b="1" dirty="0" err="1"/>
              <a:t>immersion</a:t>
            </a:r>
            <a:r>
              <a:rPr lang="pt-BR" sz="2000" b="1" dirty="0"/>
              <a:t> (Huang </a:t>
            </a:r>
            <a:r>
              <a:rPr lang="pt-BR" sz="2000" b="1" i="1" dirty="0"/>
              <a:t>et al</a:t>
            </a:r>
            <a:r>
              <a:rPr lang="pt-BR" sz="2000" b="1" dirty="0"/>
              <a:t>., 2020) </a:t>
            </a:r>
          </a:p>
          <a:p>
            <a:pPr marL="0" indent="0" algn="ctr">
              <a:buNone/>
            </a:pPr>
            <a:endParaRPr lang="pt-BR" sz="2000" b="1" dirty="0"/>
          </a:p>
          <a:p>
            <a:pPr marL="0" indent="0">
              <a:buNone/>
            </a:pPr>
            <a:r>
              <a:rPr lang="pt-BR" sz="2000" b="1" dirty="0"/>
              <a:t>Abordagem:</a:t>
            </a:r>
            <a:r>
              <a:rPr lang="pt-BR" sz="2000" dirty="0"/>
              <a:t> Estudo prático comparando diferentes níveis de imersão usando o software </a:t>
            </a:r>
            <a:r>
              <a:rPr lang="pt-BR" sz="2000" dirty="0" err="1"/>
              <a:t>Titans</a:t>
            </a:r>
            <a:r>
              <a:rPr lang="pt-BR" sz="2000" dirty="0"/>
              <a:t> </a:t>
            </a:r>
            <a:r>
              <a:rPr lang="pt-BR" sz="2000" dirty="0" err="1"/>
              <a:t>of</a:t>
            </a:r>
            <a:r>
              <a:rPr lang="pt-BR" sz="2000" dirty="0"/>
              <a:t> Space ao longo de múltiplas sessões.</a:t>
            </a:r>
          </a:p>
          <a:p>
            <a:pPr marL="0" indent="0">
              <a:buNone/>
            </a:pPr>
            <a:endParaRPr lang="pt-BR" altLang="pt-BR" sz="200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80DBAC5-195E-D480-5B97-DC600C473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77181"/>
            <a:ext cx="8229600" cy="31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200" dirty="0"/>
              <a:t>Fonte: </a:t>
            </a:r>
            <a:r>
              <a:rPr lang="pt-BR" sz="1200" dirty="0" err="1"/>
              <a:t>Steam</a:t>
            </a:r>
            <a:r>
              <a:rPr lang="pt-BR" sz="1200" dirty="0"/>
              <a:t> (2019)</a:t>
            </a:r>
          </a:p>
        </p:txBody>
      </p:sp>
      <p:pic>
        <p:nvPicPr>
          <p:cNvPr id="27650" name="Picture 2" descr="Captura de ecrã n.º 3">
            <a:extLst>
              <a:ext uri="{FF2B5EF4-FFF2-40B4-BE49-F238E27FC236}">
                <a16:creationId xmlns:a16="http://schemas.microsoft.com/office/drawing/2014/main" id="{49261569-FC92-FAF8-A012-12682C43F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867" y="3400392"/>
            <a:ext cx="5040266" cy="286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29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ítulo 1">
            <a:extLst>
              <a:ext uri="{FF2B5EF4-FFF2-40B4-BE49-F238E27FC236}">
                <a16:creationId xmlns:a16="http://schemas.microsoft.com/office/drawing/2014/main" id="{5BDAF4DD-3BB7-A2F4-1808-3E036E71A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Trabalhos Correlatos</a:t>
            </a:r>
          </a:p>
        </p:txBody>
      </p:sp>
      <p:sp>
        <p:nvSpPr>
          <p:cNvPr id="20482" name="Espaço Reservado para Conteúdo 2">
            <a:extLst>
              <a:ext uri="{FF2B5EF4-FFF2-40B4-BE49-F238E27FC236}">
                <a16:creationId xmlns:a16="http://schemas.microsoft.com/office/drawing/2014/main" id="{E0F075DE-8AE3-D8E6-C404-D9C05C030D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b="1" dirty="0"/>
              <a:t>Pontos Fortes:</a:t>
            </a:r>
            <a:endParaRPr lang="pt-BR" sz="2000" dirty="0"/>
          </a:p>
          <a:p>
            <a:r>
              <a:rPr lang="pt-BR" sz="2000" dirty="0"/>
              <a:t>Eficácia em motivar os alunos independentemente do nível de imersão.</a:t>
            </a:r>
          </a:p>
          <a:p>
            <a:r>
              <a:rPr lang="pt-BR" sz="2000" dirty="0"/>
              <a:t>Melhora significativa dos alunos sobre o conteúdo abordado.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Ponto Fraco:</a:t>
            </a:r>
            <a:endParaRPr lang="pt-BR" sz="2000" dirty="0"/>
          </a:p>
          <a:p>
            <a:r>
              <a:rPr lang="pt-BR" sz="2000" dirty="0"/>
              <a:t>Alta imersão pode causar distrações.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Resultados:</a:t>
            </a:r>
            <a:r>
              <a:rPr lang="pt-BR" sz="2000" dirty="0"/>
              <a:t> O engajamento dos alunos se manteve alto ao longo de todas as sessões, mas liberdade de interação em imersões mais altas interferiu na aprendizagem.</a:t>
            </a:r>
          </a:p>
          <a:p>
            <a:pPr eaLnBrk="1" hangingPunct="1"/>
            <a:endParaRPr lang="pt-BR" altLang="pt-BR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ítulo 1">
            <a:extLst>
              <a:ext uri="{FF2B5EF4-FFF2-40B4-BE49-F238E27FC236}">
                <a16:creationId xmlns:a16="http://schemas.microsoft.com/office/drawing/2014/main" id="{D1A83544-0502-1482-1858-192AC860A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Trabalhos Correlatos</a:t>
            </a:r>
          </a:p>
        </p:txBody>
      </p:sp>
      <p:graphicFrame>
        <p:nvGraphicFramePr>
          <p:cNvPr id="2" name="Espaço Reservado para Conteúdo 1">
            <a:extLst>
              <a:ext uri="{FF2B5EF4-FFF2-40B4-BE49-F238E27FC236}">
                <a16:creationId xmlns:a16="http://schemas.microsoft.com/office/drawing/2014/main" id="{F77E114D-234D-04AF-5F75-866E1C0252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6235553"/>
              </p:ext>
            </p:extLst>
          </p:nvPr>
        </p:nvGraphicFramePr>
        <p:xfrm>
          <a:off x="457200" y="2420888"/>
          <a:ext cx="8229601" cy="209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6881">
                  <a:extLst>
                    <a:ext uri="{9D8B030D-6E8A-4147-A177-3AD203B41FA5}">
                      <a16:colId xmlns:a16="http://schemas.microsoft.com/office/drawing/2014/main" val="2253586555"/>
                    </a:ext>
                  </a:extLst>
                </a:gridCol>
                <a:gridCol w="2017097">
                  <a:extLst>
                    <a:ext uri="{9D8B030D-6E8A-4147-A177-3AD203B41FA5}">
                      <a16:colId xmlns:a16="http://schemas.microsoft.com/office/drawing/2014/main" val="2125816458"/>
                    </a:ext>
                  </a:extLst>
                </a:gridCol>
                <a:gridCol w="1957110">
                  <a:extLst>
                    <a:ext uri="{9D8B030D-6E8A-4147-A177-3AD203B41FA5}">
                      <a16:colId xmlns:a16="http://schemas.microsoft.com/office/drawing/2014/main" val="4274883818"/>
                    </a:ext>
                  </a:extLst>
                </a:gridCol>
                <a:gridCol w="1938513">
                  <a:extLst>
                    <a:ext uri="{9D8B030D-6E8A-4147-A177-3AD203B41FA5}">
                      <a16:colId xmlns:a16="http://schemas.microsoft.com/office/drawing/2014/main" val="2030290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Trabalhos Correlatos</a:t>
                      </a:r>
                    </a:p>
                    <a:p>
                      <a:pPr indent="431800" algn="just">
                        <a:spcAft>
                          <a:spcPts val="600"/>
                        </a:spcAft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Características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Yan; Lowell; Yang (2024)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Leal; Costa; Freschi (2021)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Huang et al. (2021)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4092870"/>
                  </a:ext>
                </a:extLst>
              </a:tr>
              <a:tr h="318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Tipo de RV dos Jogos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Metaverso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Realidade Virtual Imersiva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Realidade Virtual Imersiva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5231286"/>
                  </a:ext>
                </a:extLst>
              </a:tr>
              <a:tr h="274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Plataforma dos Jogos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Computador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Óculos de RV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Óculos de RV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155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Jogabilidade dos Jogos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Interação com ambiente e outros jogadores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Interação oral com personagens com Inteligência Artificial (IA)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Exploração espacial guiada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9907711"/>
                  </a:ext>
                </a:extLst>
              </a:tr>
              <a:tr h="284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Ambientes dos Jogos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3D simplificado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3D com foco no realismo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3D com foco no realismo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7059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Variáveis Analisadas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Ansiedade, desenvolvimento da fala e presença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Tecnologias e funcionalidades de software disponíveis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Motivação, engajamento e raciocínio espacial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656544"/>
                  </a:ext>
                </a:extLst>
              </a:tr>
              <a:tr h="175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Coleta de Dados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Entrevistas, vídeos e questionários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solidFill>
                            <a:schemeClr val="tx1"/>
                          </a:solidFill>
                          <a:effectLst/>
                        </a:rPr>
                        <a:t>Análise documental</a:t>
                      </a:r>
                      <a:endParaRPr lang="pt-BR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 err="1">
                          <a:solidFill>
                            <a:schemeClr val="tx1"/>
                          </a:solidFill>
                          <a:effectLst/>
                        </a:rPr>
                        <a:t>Pré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  <a:effectLst/>
                        </a:rPr>
                        <a:t>/pós-testes e questionários padronizados</a:t>
                      </a:r>
                      <a:endParaRPr lang="pt-BR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18465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ítulo 1">
            <a:extLst>
              <a:ext uri="{FF2B5EF4-FFF2-40B4-BE49-F238E27FC236}">
                <a16:creationId xmlns:a16="http://schemas.microsoft.com/office/drawing/2014/main" id="{34A3BFB7-87BD-9F70-2E96-FDA3FA9DF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Justificativa</a:t>
            </a:r>
          </a:p>
        </p:txBody>
      </p:sp>
      <p:sp>
        <p:nvSpPr>
          <p:cNvPr id="22530" name="Espaço Reservado para Conteúdo 2">
            <a:extLst>
              <a:ext uri="{FF2B5EF4-FFF2-40B4-BE49-F238E27FC236}">
                <a16:creationId xmlns:a16="http://schemas.microsoft.com/office/drawing/2014/main" id="{1BBA3C6C-8F65-55B0-8B97-AC3057B818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altLang="pt-BR" sz="2000" b="1" dirty="0"/>
              <a:t>Lacuna Identificada</a:t>
            </a:r>
          </a:p>
          <a:p>
            <a:r>
              <a:rPr lang="pt-BR" altLang="pt-BR" sz="2000" dirty="0"/>
              <a:t>Os estudos demonstram ferramentas que dependem de interação humana síncrona ou focam em mapeamento teórico. </a:t>
            </a:r>
          </a:p>
          <a:p>
            <a:r>
              <a:rPr lang="pt-BR" altLang="pt-BR" sz="2000" dirty="0"/>
              <a:t>Falta uma solução prática, que seja autônoma para o treino da fala e lúdica para ter a atenção da pessoa.</a:t>
            </a:r>
          </a:p>
          <a:p>
            <a:pPr marL="0" indent="0">
              <a:buNone/>
            </a:pPr>
            <a:endParaRPr lang="pt-BR" altLang="pt-BR" sz="2000" dirty="0"/>
          </a:p>
          <a:p>
            <a:pPr marL="0" indent="0">
              <a:buNone/>
            </a:pPr>
            <a:r>
              <a:rPr lang="pt-BR" altLang="pt-BR" sz="2000" b="1" dirty="0"/>
              <a:t>Proposta</a:t>
            </a:r>
          </a:p>
          <a:p>
            <a:pPr marL="0" indent="0">
              <a:buNone/>
            </a:pPr>
            <a:r>
              <a:rPr lang="pt-BR" altLang="pt-BR" sz="2000" dirty="0"/>
              <a:t>	Um jogo 3D em RV no estilo </a:t>
            </a:r>
            <a:r>
              <a:rPr lang="pt-BR" altLang="pt-BR" sz="2000" i="1" dirty="0"/>
              <a:t>Escape Room </a:t>
            </a:r>
            <a:r>
              <a:rPr lang="pt-BR" altLang="pt-BR" sz="2000" dirty="0"/>
              <a:t>com temática de fantasia mágica, que utiliza comandos de voz fechados (STT) para validar a pronúncia e disparar eventos.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ítulo 1">
            <a:extLst>
              <a:ext uri="{FF2B5EF4-FFF2-40B4-BE49-F238E27FC236}">
                <a16:creationId xmlns:a16="http://schemas.microsoft.com/office/drawing/2014/main" id="{F642E5C1-EC24-5289-0B1F-8BDED92FD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Metodologia</a:t>
            </a:r>
          </a:p>
        </p:txBody>
      </p:sp>
      <p:sp>
        <p:nvSpPr>
          <p:cNvPr id="23554" name="Espaço Reservado para Conteúdo 2">
            <a:extLst>
              <a:ext uri="{FF2B5EF4-FFF2-40B4-BE49-F238E27FC236}">
                <a16:creationId xmlns:a16="http://schemas.microsoft.com/office/drawing/2014/main" id="{7495E026-C687-8AEE-F511-B1EEA9CFC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3196952"/>
          </a:xfrm>
        </p:spPr>
        <p:txBody>
          <a:bodyPr/>
          <a:lstStyle/>
          <a:p>
            <a:pPr marL="0" indent="0">
              <a:buNone/>
            </a:pPr>
            <a:r>
              <a:rPr lang="pt-BR" sz="2000" dirty="0"/>
              <a:t>Prototipação e validação de software educacional, seguindo as seguintes etapas: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2000" b="1" dirty="0"/>
              <a:t>especificação e design do jogo: </a:t>
            </a:r>
            <a:r>
              <a:rPr lang="pt-BR" sz="2000" dirty="0"/>
              <a:t>vocabulário e </a:t>
            </a:r>
            <a:r>
              <a:rPr lang="pt-BR" sz="2000" i="1" dirty="0"/>
              <a:t>game design</a:t>
            </a:r>
            <a:r>
              <a:rPr lang="pt-BR" sz="2000" dirty="0"/>
              <a:t>; 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2000" b="1" dirty="0"/>
              <a:t>modelagem e configuração do ambiente: </a:t>
            </a:r>
            <a:r>
              <a:rPr lang="pt-BR" sz="2000" dirty="0"/>
              <a:t>criação e configuração de </a:t>
            </a:r>
            <a:r>
              <a:rPr lang="pt-BR" sz="2000" i="1" dirty="0" err="1"/>
              <a:t>assets</a:t>
            </a:r>
            <a:r>
              <a:rPr lang="pt-BR" sz="2000" dirty="0"/>
              <a:t> 3D no motor gráfico Unity; 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2000" b="1" dirty="0"/>
              <a:t>implementação da mecânica em RV: </a:t>
            </a:r>
            <a:r>
              <a:rPr lang="pt-BR" sz="2000" dirty="0"/>
              <a:t>integração do Meta Quest 3S com o sistema de reconhecimento de voz (STT); 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2000" b="1" dirty="0"/>
              <a:t>testes de integração e ajustes: </a:t>
            </a:r>
            <a:r>
              <a:rPr lang="pt-BR" sz="2000" dirty="0"/>
              <a:t>reconhecimento de voz com sotaque e correção de </a:t>
            </a:r>
            <a:r>
              <a:rPr lang="pt-BR" sz="2000" i="1" dirty="0"/>
              <a:t>bugs</a:t>
            </a:r>
            <a:r>
              <a:rPr lang="pt-BR" sz="2000" dirty="0"/>
              <a:t>.</a:t>
            </a:r>
            <a:endParaRPr lang="pt-BR" altLang="pt-BR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ítulo 1">
            <a:extLst>
              <a:ext uri="{FF2B5EF4-FFF2-40B4-BE49-F238E27FC236}">
                <a16:creationId xmlns:a16="http://schemas.microsoft.com/office/drawing/2014/main" id="{DC66B131-CEF4-B39B-55D1-FC37CCDE8F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Revisão bibliografica</a:t>
            </a:r>
          </a:p>
        </p:txBody>
      </p:sp>
      <p:sp>
        <p:nvSpPr>
          <p:cNvPr id="24578" name="Espaço Reservado para Conteúdo 2">
            <a:extLst>
              <a:ext uri="{FF2B5EF4-FFF2-40B4-BE49-F238E27FC236}">
                <a16:creationId xmlns:a16="http://schemas.microsoft.com/office/drawing/2014/main" id="{C13F6E74-D0D4-45CB-22A3-FDF584224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b="1" cap="all" dirty="0"/>
              <a:t>Ensino de Língua Inglesa e o Bloqueio na Oralidade</a:t>
            </a:r>
          </a:p>
          <a:p>
            <a:pPr marL="0" indent="0">
              <a:buNone/>
            </a:pPr>
            <a:endParaRPr lang="pt-BR" sz="2000" b="1" cap="all" dirty="0"/>
          </a:p>
          <a:p>
            <a:r>
              <a:rPr lang="pt-BR" sz="2000" b="1" dirty="0"/>
              <a:t>A Complexidade da Fala:</a:t>
            </a:r>
            <a:r>
              <a:rPr lang="pt-BR" sz="2000" dirty="0"/>
              <a:t> Exige a aplicação simultânea de múltiplas habilidades (vocabulário, gramática, pronúncia e escuta).</a:t>
            </a:r>
          </a:p>
          <a:p>
            <a:endParaRPr lang="pt-BR" sz="2000" dirty="0"/>
          </a:p>
          <a:p>
            <a:r>
              <a:rPr lang="pt-BR" sz="2000" b="1" dirty="0"/>
              <a:t>O "Paradoxo" do Aprendizado:</a:t>
            </a:r>
            <a:r>
              <a:rPr lang="pt-BR" sz="2000" dirty="0"/>
              <a:t> É comum que alunos com nível avançado em leitura e escrita "travem" na hora de falar.</a:t>
            </a:r>
          </a:p>
          <a:p>
            <a:endParaRPr lang="pt-BR" sz="2000" dirty="0"/>
          </a:p>
          <a:p>
            <a:r>
              <a:rPr lang="pt-BR" sz="2000" b="1" dirty="0"/>
              <a:t>Barreiras Psicológicas:</a:t>
            </a:r>
            <a:r>
              <a:rPr lang="pt-BR" sz="2000" dirty="0"/>
              <a:t> O medo de errar, a baixa autoconfiança e a ansiedade de ser julgado na sala de aula tradicional inibem a prática.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9CB7-CC32-2D1F-AA85-45BEAE6B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ítulo 1">
            <a:extLst>
              <a:ext uri="{FF2B5EF4-FFF2-40B4-BE49-F238E27FC236}">
                <a16:creationId xmlns:a16="http://schemas.microsoft.com/office/drawing/2014/main" id="{66EF604A-1147-D8F6-E8B5-B601DB003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Revisão bibliografica</a:t>
            </a:r>
          </a:p>
        </p:txBody>
      </p:sp>
      <p:sp>
        <p:nvSpPr>
          <p:cNvPr id="24578" name="Espaço Reservado para Conteúdo 2">
            <a:extLst>
              <a:ext uri="{FF2B5EF4-FFF2-40B4-BE49-F238E27FC236}">
                <a16:creationId xmlns:a16="http://schemas.microsoft.com/office/drawing/2014/main" id="{CBA418C6-7015-902D-C544-EA285E1AFD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b="1" dirty="0"/>
              <a:t>REALIDADE VIRTUAL E JOGOS EDUCACIONAIS </a:t>
            </a:r>
          </a:p>
          <a:p>
            <a:pPr marL="0" indent="0">
              <a:buNone/>
            </a:pPr>
            <a:endParaRPr lang="pt-BR" sz="2000" b="1" cap="all" dirty="0"/>
          </a:p>
          <a:p>
            <a:r>
              <a:rPr lang="pt-BR" sz="2000" b="1" dirty="0"/>
              <a:t>A RV como Solução:</a:t>
            </a:r>
            <a:r>
              <a:rPr lang="pt-BR" sz="2000" dirty="0"/>
              <a:t> Cria ambientes 3D imersivos que tornam o aprendizado prático, dinâmico e significativo, superando as limitações do ensino tradicional. </a:t>
            </a:r>
          </a:p>
          <a:p>
            <a:endParaRPr lang="pt-BR" sz="2000" dirty="0"/>
          </a:p>
          <a:p>
            <a:r>
              <a:rPr lang="pt-BR" sz="2000" b="1" dirty="0"/>
              <a:t>Ambientes "Hiper modais":</a:t>
            </a:r>
            <a:r>
              <a:rPr lang="pt-BR" sz="2000" dirty="0"/>
              <a:t> A combinação de estímulos visuais, sonoros e interativos em 360º direciona o foco do aluno e facilita a memorização do vocabulário.</a:t>
            </a:r>
          </a:p>
          <a:p>
            <a:endParaRPr lang="pt-BR" sz="2000" dirty="0"/>
          </a:p>
          <a:p>
            <a:r>
              <a:rPr lang="pt-BR" sz="2000" b="1" dirty="0"/>
              <a:t>Alta Motivação:</a:t>
            </a:r>
            <a:r>
              <a:rPr lang="pt-BR" sz="2000" dirty="0"/>
              <a:t> Transformam o que seria uma tarefa árdua em uma experiência lúdica, mantendo os alunos engajados ao longo de múltiplas sessões.</a:t>
            </a:r>
          </a:p>
        </p:txBody>
      </p:sp>
    </p:spTree>
    <p:extLst>
      <p:ext uri="{BB962C8B-B14F-4D97-AF65-F5344CB8AC3E}">
        <p14:creationId xmlns:p14="http://schemas.microsoft.com/office/powerpoint/2010/main" val="3114524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A2A63-4464-6664-F9CE-0FEEA44D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ítulo 1">
            <a:extLst>
              <a:ext uri="{FF2B5EF4-FFF2-40B4-BE49-F238E27FC236}">
                <a16:creationId xmlns:a16="http://schemas.microsoft.com/office/drawing/2014/main" id="{D444F0F5-EE7E-12E5-C416-DB93AA078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Revisão bibliografica</a:t>
            </a:r>
          </a:p>
        </p:txBody>
      </p:sp>
      <p:sp>
        <p:nvSpPr>
          <p:cNvPr id="24578" name="Espaço Reservado para Conteúdo 2">
            <a:extLst>
              <a:ext uri="{FF2B5EF4-FFF2-40B4-BE49-F238E27FC236}">
                <a16:creationId xmlns:a16="http://schemas.microsoft.com/office/drawing/2014/main" id="{1D793775-323F-D62F-C755-706E7362C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b="1" dirty="0"/>
              <a:t>INTERAÇÃO POR VOZ EM AMBIENTES VIRTUAIS </a:t>
            </a:r>
          </a:p>
          <a:p>
            <a:pPr marL="0" indent="0">
              <a:buNone/>
            </a:pPr>
            <a:endParaRPr lang="pt-BR" sz="2000" b="1" cap="all" dirty="0"/>
          </a:p>
          <a:p>
            <a:r>
              <a:rPr lang="pt-BR" sz="2000" b="1" dirty="0"/>
              <a:t>O "Espaço Seguro":</a:t>
            </a:r>
            <a:r>
              <a:rPr lang="pt-BR" sz="2000" dirty="0"/>
              <a:t> A RV simula ambientes sociais onde o aluno pode praticar a fala sem o medo do julgamento ou do constrangimento do mundo real. </a:t>
            </a:r>
          </a:p>
          <a:p>
            <a:endParaRPr lang="pt-BR" sz="2000" dirty="0"/>
          </a:p>
          <a:p>
            <a:r>
              <a:rPr lang="pt-BR" sz="2000" b="1" dirty="0"/>
              <a:t>Reconhecimento de Fala: </a:t>
            </a:r>
            <a:r>
              <a:rPr lang="pt-BR" sz="2000" dirty="0"/>
              <a:t>Permite interagir com o jogo e com os personagens (</a:t>
            </a:r>
            <a:r>
              <a:rPr lang="pt-BR" sz="2000" dirty="0" err="1"/>
              <a:t>NPCs</a:t>
            </a:r>
            <a:r>
              <a:rPr lang="pt-BR" sz="2000" dirty="0"/>
              <a:t>) de forma autônoma, sem depender de professores ao vivo.</a:t>
            </a:r>
          </a:p>
          <a:p>
            <a:endParaRPr lang="pt-BR" sz="2000" dirty="0"/>
          </a:p>
          <a:p>
            <a:r>
              <a:rPr lang="pt-BR" sz="2000" b="1" dirty="0"/>
              <a:t>Validação Automática:</a:t>
            </a:r>
            <a:r>
              <a:rPr lang="pt-BR" sz="2000" dirty="0"/>
              <a:t> A necessidade de falar corretamente para progredir no jogo garante correção em tempo real e repetição orgânica.</a:t>
            </a:r>
          </a:p>
        </p:txBody>
      </p:sp>
    </p:spTree>
    <p:extLst>
      <p:ext uri="{BB962C8B-B14F-4D97-AF65-F5344CB8AC3E}">
        <p14:creationId xmlns:p14="http://schemas.microsoft.com/office/powerpoint/2010/main" val="1697531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ítulo 1">
            <a:extLst>
              <a:ext uri="{FF2B5EF4-FFF2-40B4-BE49-F238E27FC236}">
                <a16:creationId xmlns:a16="http://schemas.microsoft.com/office/drawing/2014/main" id="{9C0FC4C8-CE1B-8D10-A03F-21ADF203B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Referências</a:t>
            </a:r>
          </a:p>
        </p:txBody>
      </p:sp>
      <p:sp>
        <p:nvSpPr>
          <p:cNvPr id="25602" name="Espaço Reservado para Conteúdo 2">
            <a:extLst>
              <a:ext uri="{FF2B5EF4-FFF2-40B4-BE49-F238E27FC236}">
                <a16:creationId xmlns:a16="http://schemas.microsoft.com/office/drawing/2014/main" id="{CE3C3AF5-197B-99B1-0A59-28B5E7AD9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1200" dirty="0"/>
              <a:t>Huang, Wen; </a:t>
            </a:r>
            <a:r>
              <a:rPr lang="pt-BR" sz="1200" dirty="0" err="1"/>
              <a:t>Roscoe</a:t>
            </a:r>
            <a:r>
              <a:rPr lang="pt-BR" sz="1200" dirty="0"/>
              <a:t>, Rod D.; Johnson-</a:t>
            </a:r>
            <a:r>
              <a:rPr lang="pt-BR" sz="1200" dirty="0" err="1"/>
              <a:t>Glenberg</a:t>
            </a:r>
            <a:r>
              <a:rPr lang="pt-BR" sz="1200" dirty="0"/>
              <a:t>, Mina C.; Craig, </a:t>
            </a:r>
            <a:r>
              <a:rPr lang="pt-BR" sz="1200" dirty="0" err="1"/>
              <a:t>Scotty</a:t>
            </a:r>
            <a:r>
              <a:rPr lang="pt-BR" sz="1200" dirty="0"/>
              <a:t> D. </a:t>
            </a:r>
            <a:r>
              <a:rPr lang="pt-BR" sz="1200" dirty="0" err="1"/>
              <a:t>Motivation</a:t>
            </a:r>
            <a:r>
              <a:rPr lang="pt-BR" sz="1200" dirty="0"/>
              <a:t>, </a:t>
            </a:r>
            <a:r>
              <a:rPr lang="pt-BR" sz="1200" dirty="0" err="1"/>
              <a:t>engagement</a:t>
            </a:r>
            <a:r>
              <a:rPr lang="pt-BR" sz="1200" dirty="0"/>
              <a:t>, </a:t>
            </a:r>
            <a:r>
              <a:rPr lang="pt-BR" sz="1200" dirty="0" err="1"/>
              <a:t>and</a:t>
            </a:r>
            <a:r>
              <a:rPr lang="pt-BR" sz="1200" dirty="0"/>
              <a:t> performance </a:t>
            </a:r>
            <a:r>
              <a:rPr lang="pt-BR" sz="1200" dirty="0" err="1"/>
              <a:t>across</a:t>
            </a:r>
            <a:r>
              <a:rPr lang="pt-BR" sz="1200" dirty="0"/>
              <a:t> </a:t>
            </a:r>
            <a:r>
              <a:rPr lang="pt-BR" sz="1200" dirty="0" err="1"/>
              <a:t>multiple</a:t>
            </a:r>
            <a:r>
              <a:rPr lang="pt-BR" sz="1200" dirty="0"/>
              <a:t> virtual reality </a:t>
            </a:r>
            <a:r>
              <a:rPr lang="pt-BR" sz="1200" dirty="0" err="1"/>
              <a:t>sessions</a:t>
            </a:r>
            <a:r>
              <a:rPr lang="pt-BR" sz="1200" dirty="0"/>
              <a:t>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levels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immersion</a:t>
            </a:r>
            <a:r>
              <a:rPr lang="pt-BR" sz="1200" dirty="0"/>
              <a:t>. </a:t>
            </a:r>
            <a:r>
              <a:rPr lang="pt-BR" sz="1200" b="1" dirty="0" err="1"/>
              <a:t>Journal</a:t>
            </a:r>
            <a:r>
              <a:rPr lang="pt-BR" sz="1200" b="1" dirty="0"/>
              <a:t> </a:t>
            </a:r>
            <a:r>
              <a:rPr lang="pt-BR" sz="1200" b="1" dirty="0" err="1"/>
              <a:t>of</a:t>
            </a:r>
            <a:r>
              <a:rPr lang="pt-BR" sz="1200" b="1" dirty="0"/>
              <a:t> Computer </a:t>
            </a:r>
            <a:r>
              <a:rPr lang="pt-BR" sz="1200" b="1" dirty="0" err="1"/>
              <a:t>Assisted</a:t>
            </a:r>
            <a:r>
              <a:rPr lang="pt-BR" sz="1200" b="1" dirty="0"/>
              <a:t> Learning</a:t>
            </a:r>
            <a:r>
              <a:rPr lang="pt-BR" sz="1200" dirty="0"/>
              <a:t>, [S. l.], v. 37, n. 3, p. 745-758, jun. 2021. DOI: https://doi.org/10.1111/jcal.12520 Disponível em: https://onlinelibrary.wiley.com/</a:t>
            </a:r>
            <a:r>
              <a:rPr lang="pt-BR" sz="1200" dirty="0" err="1"/>
              <a:t>doi</a:t>
            </a:r>
            <a:r>
              <a:rPr lang="pt-BR" sz="1200" dirty="0"/>
              <a:t>/full/10.1111/jcal.12520. Acesso em: 04 abr. 2026.</a:t>
            </a:r>
          </a:p>
          <a:p>
            <a:r>
              <a:rPr lang="pt-BR" sz="1200" dirty="0"/>
              <a:t>Leal, João V.; Costa, Eduardo G.; </a:t>
            </a:r>
            <a:r>
              <a:rPr lang="pt-BR" sz="1200" dirty="0" err="1"/>
              <a:t>Freschi</a:t>
            </a:r>
            <a:r>
              <a:rPr lang="pt-BR" sz="1200" dirty="0"/>
              <a:t>, Ana C. VIRTUAL REALITY IN ENGLISH LEARNING: a mapping </a:t>
            </a:r>
            <a:r>
              <a:rPr lang="pt-BR" sz="1200" dirty="0" err="1"/>
              <a:t>of</a:t>
            </a:r>
            <a:r>
              <a:rPr lang="pt-BR" sz="1200" dirty="0"/>
              <a:t> new </a:t>
            </a:r>
            <a:r>
              <a:rPr lang="pt-BR" sz="1200" dirty="0" err="1"/>
              <a:t>technologies</a:t>
            </a:r>
            <a:r>
              <a:rPr lang="pt-BR" sz="1200" dirty="0"/>
              <a:t>. </a:t>
            </a:r>
            <a:r>
              <a:rPr lang="pt-BR" sz="1200" b="1" dirty="0"/>
              <a:t>Revista Interface Tecnológica</a:t>
            </a:r>
            <a:r>
              <a:rPr lang="pt-BR" sz="1200" dirty="0"/>
              <a:t>, Taquaritinga, SP, v. 18, n. 2, p. 157-168, dez. 2021. DOI: 10.31510/infa.v18i2.1255. Disponível em: https://revista.fatectq.edu.br/</a:t>
            </a:r>
            <a:r>
              <a:rPr lang="pt-BR" sz="1200" dirty="0" err="1"/>
              <a:t>interfacetecnologica</a:t>
            </a:r>
            <a:r>
              <a:rPr lang="pt-BR" sz="1200" dirty="0"/>
              <a:t>/</a:t>
            </a:r>
            <a:r>
              <a:rPr lang="pt-BR" sz="1200" dirty="0" err="1"/>
              <a:t>en</a:t>
            </a:r>
            <a:r>
              <a:rPr lang="pt-BR" sz="1200" dirty="0"/>
              <a:t>/</a:t>
            </a:r>
            <a:r>
              <a:rPr lang="pt-BR" sz="1200" dirty="0" err="1"/>
              <a:t>article</a:t>
            </a:r>
            <a:r>
              <a:rPr lang="pt-BR" sz="1200" dirty="0"/>
              <a:t>/</a:t>
            </a:r>
            <a:r>
              <a:rPr lang="pt-BR" sz="1200" dirty="0" err="1"/>
              <a:t>view</a:t>
            </a:r>
            <a:r>
              <a:rPr lang="pt-BR" sz="1200" dirty="0"/>
              <a:t>/1255. Acesso em: 11 abr. 2026.</a:t>
            </a:r>
          </a:p>
          <a:p>
            <a:r>
              <a:rPr lang="pt-BR" sz="1200" dirty="0"/>
              <a:t>Ramos, R. C.; Júnior, Wlamir L. B. Realidade virtual na educação: Fundamentos, Dispositivos, Aplicações e Inovação no Ensino. </a:t>
            </a:r>
            <a:r>
              <a:rPr lang="pt-BR" sz="1200" b="1" dirty="0"/>
              <a:t>RCMOS - Revista Científica Multidisciplinar O Saber</a:t>
            </a:r>
            <a:r>
              <a:rPr lang="pt-BR" sz="1200" dirty="0"/>
              <a:t>, Brasil, v. 1, n. 1, 2024. DOI: 10.51473/rcmos.v1i1.2024.540 Disponível em: https://submissoesrevistarcmos.com.br/</a:t>
            </a:r>
            <a:r>
              <a:rPr lang="pt-BR" sz="1200" dirty="0" err="1"/>
              <a:t>rcmos</a:t>
            </a:r>
            <a:r>
              <a:rPr lang="pt-BR" sz="1200" dirty="0"/>
              <a:t>/</a:t>
            </a:r>
            <a:r>
              <a:rPr lang="pt-BR" sz="1200" dirty="0" err="1"/>
              <a:t>article</a:t>
            </a:r>
            <a:r>
              <a:rPr lang="pt-BR" sz="1200" dirty="0"/>
              <a:t>/</a:t>
            </a:r>
            <a:r>
              <a:rPr lang="pt-BR" sz="1200" dirty="0" err="1"/>
              <a:t>view</a:t>
            </a:r>
            <a:r>
              <a:rPr lang="pt-BR" sz="1200" dirty="0"/>
              <a:t>/540. Acesso em: 11 abr. 2026.</a:t>
            </a:r>
          </a:p>
          <a:p>
            <a:r>
              <a:rPr lang="pt-BR" sz="1200" dirty="0"/>
              <a:t>Sales, Rafaela L.; Ribeiro, Patrícia N. de S.; Procópio, Renata B. O impacto de um ambiente de aprendizagem </a:t>
            </a:r>
            <a:r>
              <a:rPr lang="pt-BR" sz="1200" dirty="0" err="1"/>
              <a:t>hipermodal</a:t>
            </a:r>
            <a:r>
              <a:rPr lang="pt-BR" sz="1200" dirty="0"/>
              <a:t> com imersão em 360º na aquisição lexical de inglês como língua estrangeira. </a:t>
            </a:r>
            <a:r>
              <a:rPr lang="pt-BR" sz="1200" b="1" dirty="0"/>
              <a:t>MOARA – Revista Eletrônica do Programa de Pós-Graduação em Letras</a:t>
            </a:r>
            <a:r>
              <a:rPr lang="pt-BR" sz="1200" dirty="0"/>
              <a:t>, [S. l.], n. 67, 2024. DOI: http://dx.doi.org/10.18542/moara.v0i67.16654 Disponível em: https://periodicos.ufpa.br/</a:t>
            </a:r>
            <a:r>
              <a:rPr lang="pt-BR" sz="1200" dirty="0" err="1"/>
              <a:t>index.php</a:t>
            </a:r>
            <a:r>
              <a:rPr lang="pt-BR" sz="1200" dirty="0"/>
              <a:t>/moara/</a:t>
            </a:r>
            <a:r>
              <a:rPr lang="pt-BR" sz="1200" dirty="0" err="1"/>
              <a:t>article</a:t>
            </a:r>
            <a:r>
              <a:rPr lang="pt-BR" sz="1200" dirty="0"/>
              <a:t>/</a:t>
            </a:r>
            <a:r>
              <a:rPr lang="pt-BR" sz="1200" dirty="0" err="1"/>
              <a:t>view</a:t>
            </a:r>
            <a:r>
              <a:rPr lang="pt-BR" sz="1200" dirty="0"/>
              <a:t>/e6723/11798. Acesso em: 11 abr. 2026.</a:t>
            </a:r>
          </a:p>
          <a:p>
            <a:r>
              <a:rPr lang="pt-BR" sz="1200" dirty="0" err="1"/>
              <a:t>Steam</a:t>
            </a:r>
            <a:r>
              <a:rPr lang="pt-BR" sz="1200" dirty="0"/>
              <a:t>. </a:t>
            </a:r>
            <a:r>
              <a:rPr lang="pt-BR" sz="1200" b="1" dirty="0" err="1"/>
              <a:t>Titans</a:t>
            </a:r>
            <a:r>
              <a:rPr lang="pt-BR" sz="1200" b="1" dirty="0"/>
              <a:t> </a:t>
            </a:r>
            <a:r>
              <a:rPr lang="pt-BR" sz="1200" b="1" dirty="0" err="1"/>
              <a:t>of</a:t>
            </a:r>
            <a:r>
              <a:rPr lang="pt-BR" sz="1200" b="1" dirty="0"/>
              <a:t> Space PLUS</a:t>
            </a:r>
            <a:r>
              <a:rPr lang="pt-BR" sz="1200" dirty="0"/>
              <a:t>. 2019. Disponível em: https://store.steampowered.com/app/468820/</a:t>
            </a:r>
            <a:r>
              <a:rPr lang="pt-BR" sz="1200" dirty="0" err="1"/>
              <a:t>Titans_of_Space_PLUS</a:t>
            </a:r>
            <a:r>
              <a:rPr lang="pt-BR" sz="1200" dirty="0"/>
              <a:t>/. Acesso em: 26 abr. 2026.</a:t>
            </a:r>
          </a:p>
          <a:p>
            <a:r>
              <a:rPr lang="pt-BR" sz="1200" dirty="0" err="1"/>
              <a:t>VirtualSpeech</a:t>
            </a:r>
            <a:r>
              <a:rPr lang="pt-BR" sz="1200" dirty="0"/>
              <a:t>. </a:t>
            </a:r>
            <a:r>
              <a:rPr lang="pt-BR" sz="1200" b="1" dirty="0" err="1"/>
              <a:t>Education</a:t>
            </a:r>
            <a:r>
              <a:rPr lang="pt-BR" sz="1200" dirty="0"/>
              <a:t>. 2026. Disponível em: https://virtualspeech.com/</a:t>
            </a:r>
            <a:r>
              <a:rPr lang="pt-BR" sz="1200" dirty="0" err="1"/>
              <a:t>education</a:t>
            </a:r>
            <a:r>
              <a:rPr lang="pt-BR" sz="1200" dirty="0"/>
              <a:t>. Acesso em: 26 abr. 2026.</a:t>
            </a:r>
          </a:p>
          <a:p>
            <a:r>
              <a:rPr lang="pt-BR" sz="1200" dirty="0"/>
              <a:t>Yan, </a:t>
            </a:r>
            <a:r>
              <a:rPr lang="pt-BR" sz="1200" dirty="0" err="1"/>
              <a:t>Weijian</a:t>
            </a:r>
            <a:r>
              <a:rPr lang="pt-BR" sz="1200" dirty="0"/>
              <a:t>; Lowell, Victoria L.; Yang, Li. </a:t>
            </a:r>
            <a:r>
              <a:rPr lang="pt-BR" sz="1200" dirty="0" err="1"/>
              <a:t>Developing</a:t>
            </a:r>
            <a:r>
              <a:rPr lang="pt-BR" sz="1200" dirty="0"/>
              <a:t> </a:t>
            </a:r>
            <a:r>
              <a:rPr lang="pt-BR" sz="1200" dirty="0" err="1"/>
              <a:t>English</a:t>
            </a:r>
            <a:r>
              <a:rPr lang="pt-BR" sz="1200" dirty="0"/>
              <a:t> </a:t>
            </a:r>
            <a:r>
              <a:rPr lang="pt-BR" sz="1200" dirty="0" err="1"/>
              <a:t>language</a:t>
            </a:r>
            <a:r>
              <a:rPr lang="pt-BR" sz="1200" dirty="0"/>
              <a:t> </a:t>
            </a:r>
            <a:r>
              <a:rPr lang="pt-BR" sz="1200" dirty="0" err="1"/>
              <a:t>learners</a:t>
            </a:r>
            <a:r>
              <a:rPr lang="pt-BR" sz="1200" dirty="0"/>
              <a:t>’ </a:t>
            </a:r>
            <a:r>
              <a:rPr lang="pt-BR" sz="1200" dirty="0" err="1"/>
              <a:t>speaking</a:t>
            </a:r>
            <a:r>
              <a:rPr lang="pt-BR" sz="1200" dirty="0"/>
              <a:t> skills </a:t>
            </a:r>
            <a:r>
              <a:rPr lang="pt-BR" sz="1200" dirty="0" err="1"/>
              <a:t>through</a:t>
            </a:r>
            <a:r>
              <a:rPr lang="pt-BR" sz="1200" dirty="0"/>
              <a:t> </a:t>
            </a:r>
            <a:r>
              <a:rPr lang="pt-BR" sz="1200" dirty="0" err="1"/>
              <a:t>applying</a:t>
            </a:r>
            <a:r>
              <a:rPr lang="pt-BR" sz="1200" dirty="0"/>
              <a:t> a </a:t>
            </a:r>
            <a:r>
              <a:rPr lang="pt-BR" sz="1200" dirty="0" err="1"/>
              <a:t>situated</a:t>
            </a:r>
            <a:r>
              <a:rPr lang="pt-BR" sz="1200" dirty="0"/>
              <a:t> learning approach in VR-</a:t>
            </a:r>
            <a:r>
              <a:rPr lang="pt-BR" sz="1200" dirty="0" err="1"/>
              <a:t>enhanced</a:t>
            </a:r>
            <a:r>
              <a:rPr lang="pt-BR" sz="1200" dirty="0"/>
              <a:t> learning </a:t>
            </a:r>
            <a:r>
              <a:rPr lang="pt-BR" sz="1200" dirty="0" err="1"/>
              <a:t>experiences</a:t>
            </a:r>
            <a:r>
              <a:rPr lang="pt-BR" sz="1200" dirty="0"/>
              <a:t>. </a:t>
            </a:r>
            <a:r>
              <a:rPr lang="pt-BR" sz="1200" b="1" dirty="0"/>
              <a:t>Virtual Reality</a:t>
            </a:r>
            <a:r>
              <a:rPr lang="pt-BR" sz="1200" dirty="0"/>
              <a:t>, [S. l.], v. 28, n. 167, nov. 2024. DOI: https://doi.org/10.1007/s10055-024-01061-5 Disponível em: https://link.springer.com/</a:t>
            </a:r>
            <a:r>
              <a:rPr lang="pt-BR" sz="1200" dirty="0" err="1"/>
              <a:t>article</a:t>
            </a:r>
            <a:r>
              <a:rPr lang="pt-BR" sz="1200" dirty="0"/>
              <a:t>/10.1007/s10055-024-01061-5. Acesso em: 04 abr. 2026.</a:t>
            </a:r>
          </a:p>
          <a:p>
            <a:pPr marL="0" indent="0" eaLnBrk="1" hangingPunct="1">
              <a:buFontTx/>
              <a:buNone/>
            </a:pPr>
            <a:endParaRPr lang="pt-BR" altLang="pt-B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9A6D6DB4C58C74D86699B716B55C50E" ma:contentTypeVersion="37" ma:contentTypeDescription="Crie um novo documento." ma:contentTypeScope="" ma:versionID="99b89255d77607554021c5c033dea2b4">
  <xsd:schema xmlns:xsd="http://www.w3.org/2001/XMLSchema" xmlns:xs="http://www.w3.org/2001/XMLSchema" xmlns:p="http://schemas.microsoft.com/office/2006/metadata/properties" xmlns:ns3="81529919-bb3c-4b28-aa14-6d8510b195e6" xmlns:ns4="a37948bc-07af-4ff6-818e-9d8510523f27" targetNamespace="http://schemas.microsoft.com/office/2006/metadata/properties" ma:root="true" ma:fieldsID="06b65519e07f8ef76fac8ebc98e34619" ns3:_="" ns4:_="">
    <xsd:import namespace="81529919-bb3c-4b28-aa14-6d8510b195e6"/>
    <xsd:import namespace="a37948bc-07af-4ff6-818e-9d8510523f27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TeamsChannelId" minOccurs="0"/>
                <xsd:element ref="ns3:Math_Settings" minOccurs="0"/>
                <xsd:element ref="ns3:Leaders" minOccurs="0"/>
                <xsd:element ref="ns3:Members" minOccurs="0"/>
                <xsd:element ref="ns3:Member_Groups" minOccurs="0"/>
                <xsd:element ref="ns3:Distribution_Groups" minOccurs="0"/>
                <xsd:element ref="ns3:LMS_Mappings" minOccurs="0"/>
                <xsd:element ref="ns3:Invited_Leaders" minOccurs="0"/>
                <xsd:element ref="ns3:Invited_Members" minOccurs="0"/>
                <xsd:element ref="ns3:Has_Leaders_Only_SectionGroup" minOccurs="0"/>
                <xsd:element ref="ns3:IsNotebookLocked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29919-bb3c-4b28-aa14-6d8510b195e6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TeamsChannelId" ma:index="29" nillable="true" ma:displayName="Teams Channel Id" ma:internalName="TeamsChannelId">
      <xsd:simpleType>
        <xsd:restriction base="dms:Text"/>
      </xsd:simpleType>
    </xsd:element>
    <xsd:element name="Math_Settings" ma:index="30" nillable="true" ma:displayName="Math Settings" ma:internalName="Math_Settings">
      <xsd:simpleType>
        <xsd:restriction base="dms:Text"/>
      </xsd:simpleType>
    </xsd:element>
    <xsd:element name="Leaders" ma:index="31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2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3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6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7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Has_Leaders_Only_SectionGroup" ma:index="38" nillable="true" ma:displayName="Has Leaders Only SectionGroup" ma:internalName="Has_Leaders_Only_SectionGroup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MediaServiceAutoTags" ma:index="40" nillable="true" ma:displayName="Tags" ma:internalName="MediaServiceAutoTags" ma:readOnly="true">
      <xsd:simpleType>
        <xsd:restriction base="dms:Text"/>
      </xsd:simpleType>
    </xsd:element>
    <xsd:element name="MediaServiceOCR" ma:index="4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4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44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7948bc-07af-4ff6-818e-9d8510523f27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Hash de Dica de Compartilhamento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5A1C9F-1859-4EF1-A6C2-7688116BC1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529919-bb3c-4b28-aa14-6d8510b195e6"/>
    <ds:schemaRef ds:uri="a37948bc-07af-4ff6-818e-9d8510523f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B2D506-D2EF-4511-A434-D2480D5B85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1638</Words>
  <Application>Microsoft Office PowerPoint</Application>
  <PresentationFormat>Apresentação na tela (4:3)</PresentationFormat>
  <Paragraphs>131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Design padrão</vt:lpstr>
      <vt:lpstr>Jogo em Realidade Virtual para Estimular a Comunicação Oral em Inglês</vt:lpstr>
      <vt:lpstr>Introdução</vt:lpstr>
      <vt:lpstr>Objetivos</vt:lpstr>
      <vt:lpstr>Trabalhos Correlatos</vt:lpstr>
      <vt:lpstr>Trabalhos Correlatos</vt:lpstr>
      <vt:lpstr>Trabalhos Correlatos</vt:lpstr>
      <vt:lpstr>Trabalhos Correlatos</vt:lpstr>
      <vt:lpstr>Trabalhos Correlatos</vt:lpstr>
      <vt:lpstr>Trabalhos Correlatos</vt:lpstr>
      <vt:lpstr>Trabalhos Correlatos</vt:lpstr>
      <vt:lpstr>Justificativa</vt:lpstr>
      <vt:lpstr>Metodologia</vt:lpstr>
      <vt:lpstr>Revisão bibliografica</vt:lpstr>
      <vt:lpstr>Revisão bibliografica</vt:lpstr>
      <vt:lpstr>Revisão bibliografica</vt:lpstr>
      <vt:lpstr>Referências</vt:lpstr>
    </vt:vector>
  </TitlesOfParts>
  <Company>FURB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Seção de Apoio ao Usuário</dc:creator>
  <cp:lastModifiedBy>Gabriel de Souza Borba</cp:lastModifiedBy>
  <cp:revision>34</cp:revision>
  <dcterms:created xsi:type="dcterms:W3CDTF">2012-05-08T00:10:24Z</dcterms:created>
  <dcterms:modified xsi:type="dcterms:W3CDTF">2026-05-21T13:35:26Z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0x01010039A6D6DB4C58C74D86699B716B55C50E</vt:lpwstr>
  </property>
  <property fmtid="{D5CDD505-2E9C-101B-9397-08002B2CF9AE}" pid="3" name="NotebookType">
    <vt:lpwstr/>
  </property>
  <property fmtid="{D5CDD505-2E9C-101B-9397-08002B2CF9AE}" pid="4" name="FolderType">
    <vt:lpwstr/>
  </property>
  <property fmtid="{D5CDD505-2E9C-101B-9397-08002B2CF9AE}" pid="5" name="Teachers">
    <vt:lpwstr/>
  </property>
  <property fmtid="{D5CDD505-2E9C-101B-9397-08002B2CF9AE}" pid="6" name="Members">
    <vt:lpwstr/>
  </property>
  <property fmtid="{D5CDD505-2E9C-101B-9397-08002B2CF9AE}" pid="7" name="Member_Groups">
    <vt:lpwstr/>
  </property>
  <property fmtid="{D5CDD505-2E9C-101B-9397-08002B2CF9AE}" pid="8" name="LMS_Mappings">
    <vt:lpwstr/>
  </property>
  <property fmtid="{D5CDD505-2E9C-101B-9397-08002B2CF9AE}" pid="9" name="Owner">
    <vt:lpwstr/>
  </property>
  <property fmtid="{D5CDD505-2E9C-101B-9397-08002B2CF9AE}" pid="10" name="Leaders">
    <vt:lpwstr/>
  </property>
  <property fmtid="{D5CDD505-2E9C-101B-9397-08002B2CF9AE}" pid="11" name="Has_Leaders_Only_SectionGroup">
    <vt:lpwstr/>
  </property>
  <property fmtid="{D5CDD505-2E9C-101B-9397-08002B2CF9AE}" pid="12" name="DefaultSectionNames">
    <vt:lpwstr/>
  </property>
  <property fmtid="{D5CDD505-2E9C-101B-9397-08002B2CF9AE}" pid="13" name="Is_Collaboration_Space_Locked">
    <vt:lpwstr/>
  </property>
  <property fmtid="{D5CDD505-2E9C-101B-9397-08002B2CF9AE}" pid="14" name="CultureName">
    <vt:lpwstr/>
  </property>
  <property fmtid="{D5CDD505-2E9C-101B-9397-08002B2CF9AE}" pid="15" name="Distribution_Groups">
    <vt:lpwstr/>
  </property>
  <property fmtid="{D5CDD505-2E9C-101B-9397-08002B2CF9AE}" pid="16" name="Templates">
    <vt:lpwstr/>
  </property>
  <property fmtid="{D5CDD505-2E9C-101B-9397-08002B2CF9AE}" pid="17" name="Invited_Teachers">
    <vt:lpwstr/>
  </property>
  <property fmtid="{D5CDD505-2E9C-101B-9397-08002B2CF9AE}" pid="18" name="Invited_Students">
    <vt:lpwstr/>
  </property>
  <property fmtid="{D5CDD505-2E9C-101B-9397-08002B2CF9AE}" pid="19" name="IsNotebookLocked">
    <vt:lpwstr/>
  </property>
  <property fmtid="{D5CDD505-2E9C-101B-9397-08002B2CF9AE}" pid="20" name="Students">
    <vt:lpwstr/>
  </property>
  <property fmtid="{D5CDD505-2E9C-101B-9397-08002B2CF9AE}" pid="21" name="Student_Groups">
    <vt:lpwstr/>
  </property>
  <property fmtid="{D5CDD505-2E9C-101B-9397-08002B2CF9AE}" pid="22" name="Math_Settings">
    <vt:lpwstr/>
  </property>
  <property fmtid="{D5CDD505-2E9C-101B-9397-08002B2CF9AE}" pid="23" name="Invited_Members">
    <vt:lpwstr/>
  </property>
  <property fmtid="{D5CDD505-2E9C-101B-9397-08002B2CF9AE}" pid="24" name="AppVersion">
    <vt:lpwstr/>
  </property>
  <property fmtid="{D5CDD505-2E9C-101B-9397-08002B2CF9AE}" pid="25" name="TeamsChannelId">
    <vt:lpwstr/>
  </property>
  <property fmtid="{D5CDD505-2E9C-101B-9397-08002B2CF9AE}" pid="26" name="Invited_Leaders">
    <vt:lpwstr/>
  </property>
  <property fmtid="{D5CDD505-2E9C-101B-9397-08002B2CF9AE}" pid="27" name="Self_Registration_Enabled">
    <vt:lpwstr/>
  </property>
  <property fmtid="{D5CDD505-2E9C-101B-9397-08002B2CF9AE}" pid="28" name="Has_Teacher_Only_SectionGroup">
    <vt:lpwstr/>
  </property>
</Properties>
</file>